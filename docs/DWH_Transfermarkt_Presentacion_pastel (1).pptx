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B3A4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B3A4F"/>
                </a:solidFill>
                <a:latin typeface="Arial"/>
              </a:rPr>
              <a:t>Tamaño total por tabla (MB)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MB</c:v>
                </c:pt>
              </c:strCache>
            </c:strRef>
          </c:tx>
          <c:spPr>
            <a:solidFill>
              <a:srgbClr val="78C7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3A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game_events</c:v>
                  </c:pt>
                  <c:pt idx="1">
                    <c:v>appearances</c:v>
                  </c:pt>
                  <c:pt idx="2">
                    <c:v>player_valuations</c:v>
                  </c:pt>
                  <c:pt idx="3">
                    <c:v>games</c:v>
                  </c:pt>
                  <c:pt idx="4">
                    <c:v>players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1812.2</c:v>
                </c:pt>
                <c:pt idx="1">
                  <c:v>427</c:v>
                </c:pt>
                <c:pt idx="2">
                  <c:v>127</c:v>
                </c:pt>
                <c:pt idx="3">
                  <c:v>26.7</c:v>
                </c:pt>
                <c:pt idx="4">
                  <c:v>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3A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65717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B3A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65717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B3A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gancho: hoy los clubes fichan con datos. Transfermarkt tiene jugadores, clubes, partidos, apariciones, eventos y valoraciones. Un OLTP se atasca con consultas multidimensionales; por eso se construye un sistema OLAP.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Resáltalo en tres ideas: arquitectura escalable, modelo estrella, más de 10,5 millones de registros. Escalable = que el rendimiento no se degrada al crecer los datos gracias a índices, particiones y agregaciones.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las cuatro tarjetas como una cadena. Evidencias: conteos, consulta de huérfanos = 0, DDL, logs del ETL y demo del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leas todos: agrupa. Los funcionales son preguntas de negocio; los no funcionales son garantías técnicas. Idempotencia = ejecutar el ETL varias veces deja la base igual, sin duplicados.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 que game_events concentra el 68 % de las filas. El índice cuesta 32,75 % del espacio pero acelera JOINs y filtros. En Power BI, VertiPaq comprime 2.400 MB a unos 180-220 MB. Cifras salen de pg_class, pg_relation_size() y pg_total_relation_size().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Comienza por el grano. Luego recorre dimensiones y jerarquías. Dimensiones conformadas y llaves sustitutas. Relaciona con RF03, RF04, RF06, RF07. Estrella y no copo de nieve: menos JOINs y consultas más rápidas a costa de redundancia aceptable.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diagrama de afuera hacia adentro: cada dimensión tiene su llave sustituta (PK) y los atributos para filtrar y agrupar; el hecho central guarda solo las FKs y las medidas (minuto, minute_bucket, is_home). dim_player se usa dos veces: jugador principal y asistente. dim_game se conecta además con dim_club (local y visitante), dim_competition y dim_referee. La tabla se particiona por date_key.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dimensión tiene una llave sustituta (xxx_key) y conserva el id de negocio. Son dimensiones conformadas: las usan los tres hechos. dim_player sirve para RF02 (posición) y RF08 (edad sub-23 a partir de date_of_birth).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dim_game concentra el contexto del partido (local, visitante, marcador). dim_referee permite el ranking de árbitros (RF06). dim_event_type separa tipo y subtipo. Fact_Appearances (RF01, RF02, RF06, RF08) y Fact_Valuations (RF05) comparten las dimensiones conformadas.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Defiende: llaves sustitutas (independencia del origen y JOINs rápidos), dimensiones conformadas, SCD Tipo 1, minute_bucket calculado en el ETL, partición por rango de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viaje de un dato: CSV a Bronce sin cambios, a Plata limpio y con FKs, a Oro en estrella. Tres capas para aislar errores, conservar el dato original y entregar solo dato confiable.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 3 integrantes, cada uno cubre un rol principal: el ingeniero de datos (Bronce y Plata), el modelador + DBA + calidad (validación en Plata y modelo en Oro) y el analista de BI (Consumo). La matriz muestra quién es responsable (●) y quién apoya (○) en cada etapa. Reemplaza [nombre] por el integrante de cada rol; si prefieren otro reparto, basta intercambiar los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verbos. Si un CSV viene corrupto: reintenta con otra codificación, omite líneas malformadas y las cuenta en la auditoría.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es el motor: robustez, indexación, particionamiento y vistas materializadas. Python orquesta el ETL (no solo SQL, porque maneja lectura por chunks, errores de archivo y automatización); psycopg2 da el acceso nativo, python-dotenv protege las credenciales y pytest valida esquemas, huérfanos, duplicados, linaje e idempotencia. DBeaver y psql sirven para administrar y consultar. Docker Compose permite levantar el mismo PostgreSQL en cualquier equipo; Git y GitHub versionan el proyecto. Los datos vienen de los datasets abiertos de Transfermarkt y se consumen en Power BI desde la capa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EDA no es teoría. Ejemplo: nulos en goles se imputan en 0; nulos en valor de mercado se conservan, porque inventar un valor distorsionaría la correlación con los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lee en bloques de 100.000 filas, se copia crudo a Bronce, se tipa y depura en Plata y se convierte en hechos y dimensiones en Oro. Si falla a la mitad: se reejecuta completo, Bronce se vacía y Plata/Oro usan UPSERT.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 cada garantía con su requerimiento: chunks RNF01, idempotencia RNF07, tolerancia a fallos RNF09. Demostración ideal: dos corridas seguidas con el mismo conteo. COPY es mucho más rápido que INSERT fila a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D6E6F7"/>
            </a:gs>
            <a:gs pos="55000">
              <a:srgbClr val="FFFFFF"/>
            </a:gs>
            <a:gs pos="100000">
              <a:srgbClr val="FDF1E4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CEFC0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| BASES DE DATOS AVANZADAS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del ecosistema futbolístico Transfermarkt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Arquitectura Medallón (Bronce, Plata, Oro) · Modelo estrella · ETL en Python · Power BI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· 5.º semestre · Universidad Popular del Cesar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[nombres del grupo]   |   Docente: [nombre del docente]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Valledupar, octubre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los clubes fichan con datos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05840"/>
            <a:ext cx="73152" cy="17373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10607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1353312"/>
            <a:ext cx="24414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Scouting, valoración de mercado y táctica dependen de millones de registros. En el esquema transaccional (OLTP) cada pregunta exige 4 a 6 JOINs: consultas lentas y competencia con las escrituras.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23260" y="100584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3260" y="1005840"/>
            <a:ext cx="73152" cy="1737360"/>
          </a:xfrm>
          <a:prstGeom prst="rect">
            <a:avLst/>
          </a:prstGeom>
          <a:solidFill>
            <a:srgbClr val="78C7A0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7852" y="10607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387852" y="1353312"/>
            <a:ext cx="24414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 Warehouse (OLAP) en PostgreSQL con Arquitectura Medallón: Bronce (crudo), Plata (validado y tipado) y Oro (estrella + agregaciones).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80760" y="100584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1005840"/>
            <a:ext cx="73152" cy="1737360"/>
          </a:xfrm>
          <a:prstGeom prst="rect">
            <a:avLst/>
          </a:prstGeom>
          <a:solidFill>
            <a:srgbClr val="8FB3DB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45352" y="10607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245352" y="1353312"/>
            <a:ext cx="24414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en Python que mueve y depura los datos entre capas, y un tablero en Power BI conectado a Oro, orientado a decisiones.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2880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(origen)  vs  OLAP (Data Warehouse)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5468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y consultar filas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Analizar grandes volúmenes históricos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Normalizado (3FN)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Dimensional en estrella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típica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Muchos JOINs, pocas filas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Agregaciones sobre millones de filas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Histórico completo por temporada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Objetivo general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1887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una arquitectura de datos escalable basada en la metodología Medallón y un modelo dimensional en estrella, consolidando más de 10,5 millones de registros del ecosistema Transfermarkt en PostgreSQL, para soportar analítica interactiva y toma de decisiones mediante Power BI.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560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743200"/>
            <a:ext cx="73152" cy="1737360"/>
          </a:xfrm>
          <a:prstGeom prst="rect">
            <a:avLst/>
          </a:prstGeom>
          <a:solidFill>
            <a:srgbClr val="78C7A0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79806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escalable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3090672"/>
            <a:ext cx="23042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Bronce/Plata/Oro, índices, particiones y agregaciones: el rendimiento no se degrada al crecer.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2743200"/>
            <a:ext cx="2560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2743200"/>
            <a:ext cx="73152" cy="173736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279806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estrella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456432" y="3090672"/>
            <a:ext cx="23042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central Fact_Events + 7 dimensiones: pocos JOINs y consultas rápidas.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35040" y="2743200"/>
            <a:ext cx="2560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2743200"/>
            <a:ext cx="73152" cy="17373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99632" y="279806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 M+ de registros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199632" y="3090672"/>
            <a:ext cx="23042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10.565.088 filas medidas físicamente en PostgreSQL, con integridad referencial.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Objetivos específicos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→ Modelo → ETL → Visualización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05840"/>
            <a:ext cx="73152" cy="1737360"/>
          </a:xfrm>
          <a:prstGeom prst="rect">
            <a:avLst/>
          </a:prstGeom>
          <a:solidFill>
            <a:srgbClr val="78C7A0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106070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Ingesta e integración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1353312"/>
            <a:ext cx="3904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los 7 CSV a Bronce, validación de esquema y expansión controlada a más de 10,5 M de filas.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conteos por tabla (10.565.088), huérfanos = 0, tabla de auditoría.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005840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005840"/>
            <a:ext cx="73152" cy="173736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82312" y="106070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Modelo dimensional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782312" y="1353312"/>
            <a:ext cx="3904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en estrella con Fact_Events y 7 dimensiones, llaves sustitutas y FKs.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diagrama, scripts DDL, consultas JOIN de ejemplo.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880360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880360"/>
            <a:ext cx="73152" cy="17373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" y="293522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Pipeline ETL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3227832"/>
            <a:ext cx="3904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 por chunks (10.000 a 200.000 filas), idempotentes, Bronce → Plata → Oro.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código, log de ejecución, reejecución sin duplicados.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17720" y="2880360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17720" y="2880360"/>
            <a:ext cx="73152" cy="1737360"/>
          </a:xfrm>
          <a:prstGeom prst="rect">
            <a:avLst/>
          </a:prstGeom>
          <a:solidFill>
            <a:srgbClr val="8FB3DB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82312" y="293522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Visualización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82312" y="3227832"/>
            <a:ext cx="3904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Power BI conectado a Oro con drill-down/up y segmentadores sincronizados.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demo en vivo y tiempos menores a 3 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Requerimientos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funcionales (qué analiza) y 10 no funcionales (qué calidad tiene)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5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(RF)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23444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Ranking Top N (goles, asistencias, minutos)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RF02 Métricas por posición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 Drill-down geográfico y temporal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 Local vs visitante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RF05 Correlación valor de plantilla vs puntos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 Disciplina: tarjetas por 90 min y árbitro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 Eventos por intervalos de 15 min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RF08 Scouting sub-23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RF09 Dashboard con selectores sincronizados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RF10 Agregaciones materializadas en Oro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RF11 Auditoría y linaje del ETL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 (RNF)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23444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 Chunks de 10.000 a 200.000 filas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 Integridad referencial (huérfanos = 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RNF03 +10,5 M de registros sin degradación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RNF04 Visualización en menos de 3 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RNF05 Fechas ISO-8601 y tipado fuerte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RNF06 Tratamiento canónico de nulos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RNF07 Idempotencia (TRUNCATE + UPSERT)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RNF08 Índices y partición por rango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RNF09 Ingesta tolerante a fallos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RNF10 Conector nativo PostgreSQL → Power BI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Volumetría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física real con pg_class y pg_total_relation_size()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6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14400"/>
          <a:ext cx="4846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303520" y="960120"/>
            <a:ext cx="1737360" cy="86868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303520" y="96012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10.565.088</a:t>
            </a:r>
            <a:endParaRPr lang="en-US" sz="17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totales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132320" y="960120"/>
            <a:ext cx="1737360" cy="86868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32320" y="96012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1.614 MB</a:t>
            </a:r>
            <a:endParaRPr lang="en-US" sz="17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(≈160 bytes/fila)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303520" y="1920240"/>
            <a:ext cx="1737360" cy="86868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03520" y="192024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786 MB</a:t>
            </a:r>
            <a:endParaRPr lang="en-US" sz="17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(32,75 %)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132320" y="1920240"/>
            <a:ext cx="1737360" cy="86868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132320" y="192024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2.400 MB</a:t>
            </a:r>
            <a:endParaRPr lang="en-US" sz="17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total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303520" y="29260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game_events = 68 % de las filas y 75,5 % del espacio: candidata a partición y origen de Fact_Events.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≈ 49 % del dato en las 3 tablas grandes: costo aceptable en un DWH (se lee más de lo que se escribe).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(VertiPaq): 2.400 MB → ≈ 180-220 MB (≈ 11× menos), modo Import.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" y="3931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más pequeña: competitions 43 · clubs 426 · players 30.499 · games 67.421 · valuations 1.385.000 · appearances 1.894.350 · game_events 7.187.349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Diseño del modelo estrella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Grano: un evento de partido (gol, tarjeta o sustitución)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143000" y="1691640"/>
            <a:ext cx="2606040" cy="59436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29000" y="1691640"/>
            <a:ext cx="868680" cy="59436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4846320" y="1691640"/>
            <a:ext cx="868680" cy="59436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5394960" y="1691640"/>
            <a:ext cx="2606040" cy="59436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1828800" y="3200400"/>
            <a:ext cx="2084832" cy="45720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200400"/>
            <a:ext cx="0" cy="45720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30368" y="3200400"/>
            <a:ext cx="2084832" cy="45720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960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8C7A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320" y="9601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· año · mes · temporada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60320" y="960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8C7A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60320" y="9601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dim_competition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· país · confederación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960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8C7A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9601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dim_club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· estadio · liga doméstica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132320" y="960120"/>
            <a:ext cx="173736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8C7A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0" y="9601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dim_player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· fecha nac. · país · pie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22960" y="365760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8C7A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3657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dim_game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· local · visitante · goles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566160" y="365760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8C7A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66160" y="3657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dim_referee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referee_key · nombre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3657600"/>
            <a:ext cx="201168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8C7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09360" y="3657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dim_event_type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· subtipo (gol, tarjeta, sust.)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108960" y="2286000"/>
            <a:ext cx="2926080" cy="914400"/>
          </a:xfrm>
          <a:prstGeom prst="rect">
            <a:avLst/>
          </a:prstGeom>
          <a:solidFill>
            <a:srgbClr val="D6E6F7"/>
          </a:solidFill>
          <a:ln w="25400">
            <a:solidFill>
              <a:srgbClr val="E6C2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10896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FACT_EVENTS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 · minute_bucket · is_home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 a las 7 dimensiones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secundarios (comparten dimensiones conformadas): Fact_Appearances y Fact_Valuations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Diagrama: Fact_Events y sus 7 dimensiones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Grano: un evento de partido · cada FK de la tabla de hechos apunta a la llave sustituta (PK) de una dimensión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280160" y="2121408"/>
            <a:ext cx="1828800" cy="27432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29000" y="2121408"/>
            <a:ext cx="411480" cy="27432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5303520" y="2121408"/>
            <a:ext cx="274320" cy="27432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6035040" y="2121408"/>
            <a:ext cx="1691640" cy="274320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2194560" y="3584448"/>
            <a:ext cx="1097280" cy="118872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584448"/>
            <a:ext cx="731520" cy="118872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3584448"/>
            <a:ext cx="1783080" cy="118872"/>
          </a:xfrm>
          <a:prstGeom prst="line">
            <a:avLst/>
          </a:prstGeom>
          <a:noFill/>
          <a:ln w="19050">
            <a:solidFill>
              <a:srgbClr val="B3BDC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868680"/>
            <a:ext cx="201168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78C7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868680"/>
            <a:ext cx="2011680" cy="219456"/>
          </a:xfrm>
          <a:prstGeom prst="rect">
            <a:avLst/>
          </a:prstGeom>
          <a:solidFill>
            <a:srgbClr val="D3EEDF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4320" y="868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347472" y="1124712"/>
            <a:ext cx="19019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date_key (AAAAMMDD)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full_date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quarter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· month_name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2423160" y="868680"/>
            <a:ext cx="201168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E6C2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23160" y="868680"/>
            <a:ext cx="2011680" cy="219456"/>
          </a:xfrm>
          <a:prstGeom prst="rect">
            <a:avLst/>
          </a:prstGeom>
          <a:solidFill>
            <a:srgbClr val="FCEFC0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423160" y="868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dim_competition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2496312" y="1124712"/>
            <a:ext cx="19019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competition_key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competition_id (UNIQUE)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confederation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572000" y="868680"/>
            <a:ext cx="201168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E8A87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868680"/>
            <a:ext cx="2011680" cy="219456"/>
          </a:xfrm>
          <a:prstGeom prst="rect">
            <a:avLst/>
          </a:prstGeom>
          <a:solidFill>
            <a:srgbClr val="F9D9C3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0" y="868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dim_club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4645152" y="1124712"/>
            <a:ext cx="19019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club_key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club_id (UNIQUE)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stadium_name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squad_size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competition_key (FK)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720840" y="868680"/>
            <a:ext cx="2103120" cy="1252728"/>
          </a:xfrm>
          <a:prstGeom prst="rect">
            <a:avLst/>
          </a:prstGeom>
          <a:solidFill>
            <a:srgbClr val="FFFFFF"/>
          </a:solidFill>
          <a:ln w="19050">
            <a:solidFill>
              <a:srgbClr val="8FB3D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20840" y="868680"/>
            <a:ext cx="2103120" cy="219456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20840" y="868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dim_player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793992" y="1124712"/>
            <a:ext cx="19933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player_key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player_id (UNIQUE) · 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sub_position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date_of_birth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country_of_citizenship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· height_in_cm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74320" y="3703320"/>
            <a:ext cx="38404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8C7A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4320" y="3703320"/>
            <a:ext cx="3840480" cy="219456"/>
          </a:xfrm>
          <a:prstGeom prst="rect">
            <a:avLst/>
          </a:prstGeom>
          <a:solidFill>
            <a:srgbClr val="D3EEDF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74320" y="37033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dim_game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347472" y="395935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game_key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game_id (UNIQUE)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competition_key (FK)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· round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game_date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2267712" y="395935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home_club_key (FK)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away_club_key (FK)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home_goals · away_goals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referee_key (FK)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251960" y="3703320"/>
            <a:ext cx="21031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C25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51960" y="3703320"/>
            <a:ext cx="2103120" cy="219456"/>
          </a:xfrm>
          <a:prstGeom prst="rect">
            <a:avLst/>
          </a:prstGeom>
          <a:solidFill>
            <a:srgbClr val="FCEFC0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251960" y="37033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dim_referee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4325112" y="3959352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referee_key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referee_name (UNIQUE)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6492240" y="3703320"/>
            <a:ext cx="23317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87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92240" y="3703320"/>
            <a:ext cx="2331720" cy="219456"/>
          </a:xfrm>
          <a:prstGeom prst="rect">
            <a:avLst/>
          </a:prstGeom>
          <a:solidFill>
            <a:srgbClr val="F9D9C3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92240" y="3703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dim_event_type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565392" y="3959352"/>
            <a:ext cx="2221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event_type_key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 (gol, tarjeta, sustitución)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event_subtype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2743200" y="2395728"/>
            <a:ext cx="3657600" cy="1188720"/>
          </a:xfrm>
          <a:prstGeom prst="rect">
            <a:avLst/>
          </a:prstGeom>
          <a:solidFill>
            <a:srgbClr val="D6E6F7"/>
          </a:solidFill>
          <a:ln w="31750">
            <a:solidFill>
              <a:srgbClr val="E6C25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743200" y="24231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FACT_EVENTS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2834640" y="26974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event_key (BIGSERIAL)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date_key → dim_date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game_key → dim_game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competition_key → dim_competition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club_key → dim_club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player_key → dim_player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4663440" y="26974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assist_player_key → dim_player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referee_key → dim_referee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event_type_key → dim_event_type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(medida)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minute_bucket (15 min)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is_home (local/visitante)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Dimensiones (1 de 2): quién, cuándo y dónde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completos de cada dimensión (PK = llave sustituta; id = llave de negocio UNIQUE)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41605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914400"/>
            <a:ext cx="73152" cy="1874520"/>
          </a:xfrm>
          <a:prstGeom prst="rect">
            <a:avLst/>
          </a:prstGeom>
          <a:solidFill>
            <a:srgbClr val="78C7A0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96926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· jerarquía Año &gt; Mes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1261872"/>
            <a:ext cx="3904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(PK, AAAAMMDD) · full_date (DATE)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quarter · month · month_name · week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(ej. 2023/24)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eje temporal de todos los hechos y de las tendencias por temporada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914400"/>
            <a:ext cx="41605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914400"/>
            <a:ext cx="73152" cy="187452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82312" y="96926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dim_competition · Confederación &gt; Liga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782312" y="1261872"/>
            <a:ext cx="39044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competition_key (PK) · competition_id (UNIQUE)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type (liga o copa)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country_name · confederation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filtro geográfico y drill-down (RF03)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834640"/>
            <a:ext cx="41605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834640"/>
            <a:ext cx="73152" cy="192024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" y="288950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dim_club · Liga &gt; Club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3182112"/>
            <a:ext cx="390448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club_key (PK) · club_id (UNIQUE)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stadium_name · squad_size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competition_key (FK → dim_competition: liga doméstica)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local/visitante, plantilla y valor por club (RF04, RF05)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17720" y="2834640"/>
            <a:ext cx="41605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17720" y="2834640"/>
            <a:ext cx="73152" cy="1920240"/>
          </a:xfrm>
          <a:prstGeom prst="rect">
            <a:avLst/>
          </a:prstGeom>
          <a:solidFill>
            <a:srgbClr val="8FB3DB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82312" y="288950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dim_player · Club &gt; Jugador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82312" y="3182112"/>
            <a:ext cx="390448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player_key (PK) · player_id (UNIQUE) · 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sub_position (RF02)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date_of_birth (edad, RF08)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country_of_citizenship · foot · height_in_cm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rankings, scouting y rendimiento por posición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Dimensiones (2 de 2) y hechos complementarios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dim_game, dim_referee, dim_event_type · Fact_Appearances · Fact_Valuations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10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914400"/>
            <a:ext cx="41605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914400"/>
            <a:ext cx="73152" cy="1965960"/>
          </a:xfrm>
          <a:prstGeom prst="rect">
            <a:avLst/>
          </a:prstGeom>
          <a:solidFill>
            <a:srgbClr val="78C7A0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96926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dim_game · Temporada &gt; Jornada &gt; Partido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1261872"/>
            <a:ext cx="3904488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game_key (PK) · game_id (UNIQUE)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competition_key (FK) · season · round · game_date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home_club_key · away_club_key (FK → dim_club)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home_goals · away_goals · attendance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referee_key (FK → dim_referee)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914400"/>
            <a:ext cx="4160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914400"/>
            <a:ext cx="73152" cy="91440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82312" y="96926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dim_referee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782312" y="1261872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referee_key (PK) · referee_name (UNIQUE)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tarjetas por árbitro (RF06)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17720" y="1920240"/>
            <a:ext cx="41605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1920240"/>
            <a:ext cx="73152" cy="9601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82312" y="197510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dim_event_type · Tipo &gt; Subtipo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782312" y="2267712"/>
            <a:ext cx="39044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event_type_key (PK) · event_type · event_subtype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Valores: gol, tarjeta, sustitución y su subtipo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3017520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017520"/>
            <a:ext cx="73152" cy="1737360"/>
          </a:xfrm>
          <a:prstGeom prst="rect">
            <a:avLst/>
          </a:prstGeom>
          <a:solidFill>
            <a:srgbClr val="8FB3DB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0352" y="307238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Fact_Appearances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30352" y="3364992"/>
            <a:ext cx="3904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Grano: un jugador en un partido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Llaves: fecha, partido, competición, club, jugador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Medidas: goles, asistencias, amarillas, rojas, minutos jugados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RF01, RF02, RF06, RF08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17720" y="3017520"/>
            <a:ext cx="4160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17720" y="3017520"/>
            <a:ext cx="73152" cy="1737360"/>
          </a:xfrm>
          <a:prstGeom prst="rect">
            <a:avLst/>
          </a:prstGeom>
          <a:solidFill>
            <a:srgbClr val="B3BDCA"/>
          </a:solidFill>
          <a:ln w="12700">
            <a:solidFill>
              <a:srgbClr val="B3BDC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82312" y="3072384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Fact_Valuations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782312" y="3364992"/>
            <a:ext cx="3904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Grano: un jugador en una fecha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Llaves: fecha, jugador, club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 valor de mercado en euros (NULL si no existe, regla E02)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RF05 (valor de plantilla vs puntos)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Hechos, jerarquías y decisiones de diseño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para defender el modelo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9260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 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Fact_Events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evento de un partido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conteo, minuto, minute_bucket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RF03, RF04, RF06, RF07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Fact_Appearances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jugador en un partido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goles, asistencias, amarillas, rojas, minutos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RF01, RF02, RF06, RF08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Fact_Valuations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jugador en una fecha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de mercado (€)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2468880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5760" y="2468880"/>
            <a:ext cx="73152" cy="2286000"/>
          </a:xfrm>
          <a:prstGeom prst="rect">
            <a:avLst/>
          </a:prstGeom>
          <a:solidFill>
            <a:srgbClr val="78C7A0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0352" y="2523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Jerarquías (drill-down)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30352" y="2816352"/>
            <a:ext cx="385876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Confederación &gt; Liga &gt; Club &gt; Jugador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Año &gt; Mes &gt; Partido &gt; Minuto (el minuto vive en el hecho)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Temporada &gt; Jornada &gt; Partido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 de evento &gt; Subtipo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63440" y="2468880"/>
            <a:ext cx="4114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2468880"/>
            <a:ext cx="73152" cy="228600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828032" y="2523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828032" y="2816352"/>
            <a:ext cx="385876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Llaves sustitutas (xxx_key) + id de negocio UNIQUE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Dimensiones conformadas: player, club, date, competition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SCD Tipo 1 (Tipo 2 si se quiere historial de clubes)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minute_bucket de 15 min (0-14, 15-29 … 90+)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Fact_Events particionada por rango de fecha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Arquitectura Medallón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es un esquema de PostgreSQL: bronze, silver, gold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12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E4E8EE"/>
          </a:solidFill>
          <a:ln w="12700">
            <a:solidFill>
              <a:srgbClr val="B3BD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0040" y="9601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archivos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A4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057400" y="9601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9D9C3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57400" y="9601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BRONCE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 (TEXT) + auditoría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A4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794760" y="9601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E4E8EE"/>
          </a:solidFill>
          <a:ln w="12700">
            <a:solidFill>
              <a:srgbClr val="B3BDC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794760" y="9601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tipado, limpio, PK/FK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A4F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532120" y="9601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CEFC0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32120" y="9601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estrella + agregaciones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3A4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269480" y="96012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9480" y="9601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VertiPaq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5760" y="201168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2011680"/>
            <a:ext cx="73152" cy="274320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0352" y="206654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Bronce (bronze)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30352" y="2359152"/>
            <a:ext cx="244144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fiel de los CSV: todo como TEXT + _load_id, _loaded_at, _source_file.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corrige nada, solo se registra. Tolera errores de codificación y delimitadores.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ingeniero de datos.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23260" y="201168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23260" y="2011680"/>
            <a:ext cx="73152" cy="2743200"/>
          </a:xfrm>
          <a:prstGeom prst="rect">
            <a:avLst/>
          </a:prstGeom>
          <a:solidFill>
            <a:srgbClr val="B3BDCA"/>
          </a:solidFill>
          <a:ln w="12700">
            <a:solidFill>
              <a:srgbClr val="B3BDC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387852" y="206654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 (silver)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3387852" y="2359152"/>
            <a:ext cx="244144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tipadas, sin duplicados, con PK y FK.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ISO-8601, tipado fuerte, nulos canónicos y cero huérfanos.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ingeniero de datos y calidad.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80760" y="2011680"/>
            <a:ext cx="2697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80760" y="2011680"/>
            <a:ext cx="73152" cy="274320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45352" y="206654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(gold)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245352" y="2359152"/>
            <a:ext cx="244144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estrella y tablas agregadas (vistas materializadas).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sustitutas, jerarquías, índices B-Tree/Hash y particiones.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analistas y Power BI.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Roles del equipo en cada etapa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13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integrantes · 4 etapas · un responsable principal por etapa</a:t>
            </a:r>
            <a:endParaRPr lang="en-US" sz="1100" dirty="0"/>
          </a:p>
        </p:txBody>
      </p:sp>
      <p:sp>
        <p:nvSpPr>
          <p:cNvPr id="6" name="Card rol 1"/>
          <p:cNvSpPr/>
          <p:nvPr/>
        </p:nvSpPr>
        <p:spPr>
          <a:xfrm>
            <a:off x="365760" y="960000"/>
            <a:ext cx="2682240" cy="2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anda integrante 1"/>
          <p:cNvSpPr/>
          <p:nvPr/>
        </p:nvSpPr>
        <p:spPr>
          <a:xfrm>
            <a:off x="365760" y="960000"/>
            <a:ext cx="2682240" cy="300000"/>
          </a:xfrm>
          <a:prstGeom prst="rect">
            <a:avLst/>
          </a:prstGeom>
          <a:solidFill>
            <a:srgbClr val="D6E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 integrante 1"/>
          <p:cNvSpPr txBox="1"/>
          <p:nvPr/>
        </p:nvSpPr>
        <p:spPr>
          <a:xfrm>
            <a:off x="515760" y="960000"/>
            <a:ext cx="238224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4395A"/>
                </a:solidFill>
                <a:latin typeface="Calibri"/>
              </a:rPr>
              <a:t>INTEGRANTE 1</a:t>
            </a:r>
            <a:r>
              <a:rPr sz="1050" b="0">
                <a:solidFill>
                  <a:srgbClr val="4A6585"/>
                </a:solidFill>
                <a:latin typeface="Calibri"/>
              </a:rPr>
              <a:t>   [nombre]</a:t>
            </a:r>
          </a:p>
        </p:txBody>
      </p:sp>
      <p:sp>
        <p:nvSpPr>
          <p:cNvPr id="9" name="Rol 1"/>
          <p:cNvSpPr txBox="1"/>
          <p:nvPr/>
        </p:nvSpPr>
        <p:spPr>
          <a:xfrm>
            <a:off x="515760" y="1310000"/>
            <a:ext cx="2382240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4395A"/>
                </a:solidFill>
                <a:latin typeface="Calibri"/>
              </a:rPr>
              <a:t>Ingeniero de datos (ETL)</a:t>
            </a:r>
          </a:p>
        </p:txBody>
      </p:sp>
      <p:sp>
        <p:nvSpPr>
          <p:cNvPr id="10" name="Etapa Bronce rol 1"/>
          <p:cNvSpPr/>
          <p:nvPr/>
        </p:nvSpPr>
        <p:spPr>
          <a:xfrm>
            <a:off x="515760" y="1610000"/>
            <a:ext cx="640000" cy="200000"/>
          </a:xfrm>
          <a:prstGeom prst="roundRect">
            <a:avLst>
              <a:gd name="adj" fmla="val 50000"/>
            </a:avLst>
          </a:prstGeom>
          <a:solidFill>
            <a:srgbClr val="F9D9C3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A5501E"/>
                </a:solidFill>
                <a:latin typeface="Calibri"/>
              </a:rPr>
              <a:t>BRONCE</a:t>
            </a:r>
          </a:p>
        </p:txBody>
      </p:sp>
      <p:sp>
        <p:nvSpPr>
          <p:cNvPr id="11" name="Etapa Plata rol 1"/>
          <p:cNvSpPr/>
          <p:nvPr/>
        </p:nvSpPr>
        <p:spPr>
          <a:xfrm>
            <a:off x="1245760" y="1610000"/>
            <a:ext cx="640000" cy="200000"/>
          </a:xfrm>
          <a:prstGeom prst="roundRect">
            <a:avLst>
              <a:gd name="adj" fmla="val 50000"/>
            </a:avLst>
          </a:prstGeom>
          <a:solidFill>
            <a:srgbClr val="E4E8E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4A5563"/>
                </a:solidFill>
                <a:latin typeface="Calibri"/>
              </a:rPr>
              <a:t>PLATA</a:t>
            </a:r>
          </a:p>
        </p:txBody>
      </p:sp>
      <p:sp>
        <p:nvSpPr>
          <p:cNvPr id="12" name="Responsabilidades 1"/>
          <p:cNvSpPr txBox="1"/>
          <p:nvPr/>
        </p:nvSpPr>
        <p:spPr>
          <a:xfrm>
            <a:off x="515760" y="1890000"/>
            <a:ext cx="2382240" cy="9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0000" indent="-150000">
              <a:spcAft>
                <a:spcPts val="300"/>
              </a:spcAft>
              <a:buChar char="•"/>
            </a:pPr>
            <a:r>
              <a:rPr sz="1000" b="0">
                <a:solidFill>
                  <a:srgbClr val="2B3A4F"/>
                </a:solidFill>
                <a:latin typeface="Calibri"/>
              </a:rPr>
              <a:t>Ingestar los 7 CSV por chunks y registrar la auditoría de carga</a:t>
            </a:r>
          </a:p>
          <a:p>
            <a:pPr algn="l" marL="150000" indent="-150000">
              <a:spcAft>
                <a:spcPts val="300"/>
              </a:spcAft>
              <a:buChar char="•"/>
            </a:pPr>
            <a:r>
              <a:rPr sz="1000" b="0">
                <a:solidFill>
                  <a:srgbClr val="2B3A4F"/>
                </a:solidFill>
                <a:latin typeface="Calibri"/>
              </a:rPr>
              <a:t>Controlar errores de lectura y codificación</a:t>
            </a:r>
          </a:p>
          <a:p>
            <a:pPr algn="l" marL="150000" indent="-150000">
              <a:spcAft>
                <a:spcPts val="300"/>
              </a:spcAft>
              <a:buChar char="•"/>
            </a:pPr>
            <a:r>
              <a:rPr sz="1000" b="0">
                <a:solidFill>
                  <a:srgbClr val="2B3A4F"/>
                </a:solidFill>
                <a:latin typeface="Calibri"/>
              </a:rPr>
              <a:t>Tipar, limpiar y deduplicar en Plata</a:t>
            </a:r>
          </a:p>
        </p:txBody>
      </p:sp>
      <p:sp>
        <p:nvSpPr>
          <p:cNvPr id="13" name="Entregable 1"/>
          <p:cNvSpPr txBox="1"/>
          <p:nvPr/>
        </p:nvSpPr>
        <p:spPr>
          <a:xfrm>
            <a:off x="515760" y="2920000"/>
            <a:ext cx="238224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4395A"/>
                </a:solidFill>
                <a:latin typeface="Calibri"/>
              </a:rPr>
              <a:t>Entregable: </a:t>
            </a:r>
            <a:r>
              <a:rPr sz="1000" b="0">
                <a:solidFill>
                  <a:srgbClr val="2B3A4F"/>
                </a:solidFill>
                <a:latin typeface="Calibri"/>
              </a:rPr>
              <a:t>scripts ETL Bronce → Plata y log de ejecución</a:t>
            </a:r>
          </a:p>
        </p:txBody>
      </p:sp>
      <p:sp>
        <p:nvSpPr>
          <p:cNvPr id="14" name="Card rol 2"/>
          <p:cNvSpPr/>
          <p:nvPr/>
        </p:nvSpPr>
        <p:spPr>
          <a:xfrm>
            <a:off x="3230880" y="960000"/>
            <a:ext cx="2682240" cy="2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anda integrante 2"/>
          <p:cNvSpPr/>
          <p:nvPr/>
        </p:nvSpPr>
        <p:spPr>
          <a:xfrm>
            <a:off x="3230880" y="960000"/>
            <a:ext cx="2682240" cy="300000"/>
          </a:xfrm>
          <a:prstGeom prst="rect">
            <a:avLst/>
          </a:prstGeom>
          <a:solidFill>
            <a:srgbClr val="D6E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o integrante 2"/>
          <p:cNvSpPr txBox="1"/>
          <p:nvPr/>
        </p:nvSpPr>
        <p:spPr>
          <a:xfrm>
            <a:off x="3380880" y="960000"/>
            <a:ext cx="238224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4395A"/>
                </a:solidFill>
                <a:latin typeface="Calibri"/>
              </a:rPr>
              <a:t>INTEGRANTE 2</a:t>
            </a:r>
            <a:r>
              <a:rPr sz="1050" b="0">
                <a:solidFill>
                  <a:srgbClr val="4A6585"/>
                </a:solidFill>
                <a:latin typeface="Calibri"/>
              </a:rPr>
              <a:t>   [nombre]</a:t>
            </a:r>
          </a:p>
        </p:txBody>
      </p:sp>
      <p:sp>
        <p:nvSpPr>
          <p:cNvPr id="17" name="Rol 2"/>
          <p:cNvSpPr txBox="1"/>
          <p:nvPr/>
        </p:nvSpPr>
        <p:spPr>
          <a:xfrm>
            <a:off x="3380880" y="1310000"/>
            <a:ext cx="2382240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4395A"/>
                </a:solidFill>
                <a:latin typeface="Calibri"/>
              </a:rPr>
              <a:t>Modelador + DBA + calidad</a:t>
            </a:r>
          </a:p>
        </p:txBody>
      </p:sp>
      <p:sp>
        <p:nvSpPr>
          <p:cNvPr id="18" name="Etapa Plata rol 2"/>
          <p:cNvSpPr/>
          <p:nvPr/>
        </p:nvSpPr>
        <p:spPr>
          <a:xfrm>
            <a:off x="3380880" y="1610000"/>
            <a:ext cx="640000" cy="200000"/>
          </a:xfrm>
          <a:prstGeom prst="roundRect">
            <a:avLst>
              <a:gd name="adj" fmla="val 50000"/>
            </a:avLst>
          </a:prstGeom>
          <a:solidFill>
            <a:srgbClr val="E4E8EE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4A5563"/>
                </a:solidFill>
                <a:latin typeface="Calibri"/>
              </a:rPr>
              <a:t>PLATA</a:t>
            </a:r>
          </a:p>
        </p:txBody>
      </p:sp>
      <p:sp>
        <p:nvSpPr>
          <p:cNvPr id="19" name="Etapa Oro rol 2"/>
          <p:cNvSpPr/>
          <p:nvPr/>
        </p:nvSpPr>
        <p:spPr>
          <a:xfrm>
            <a:off x="4110880" y="1610000"/>
            <a:ext cx="640000" cy="200000"/>
          </a:xfrm>
          <a:prstGeom prst="roundRect">
            <a:avLst>
              <a:gd name="adj" fmla="val 50000"/>
            </a:avLst>
          </a:prstGeom>
          <a:solidFill>
            <a:srgbClr val="FCEFC0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946900"/>
                </a:solidFill>
                <a:latin typeface="Calibri"/>
              </a:rPr>
              <a:t>ORO</a:t>
            </a:r>
          </a:p>
        </p:txBody>
      </p:sp>
      <p:sp>
        <p:nvSpPr>
          <p:cNvPr id="20" name="Responsabilidades 2"/>
          <p:cNvSpPr txBox="1"/>
          <p:nvPr/>
        </p:nvSpPr>
        <p:spPr>
          <a:xfrm>
            <a:off x="3380880" y="1890000"/>
            <a:ext cx="2382240" cy="9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0000" indent="-150000">
              <a:spcAft>
                <a:spcPts val="300"/>
              </a:spcAft>
              <a:buChar char="•"/>
            </a:pPr>
            <a:r>
              <a:rPr sz="1000" b="0">
                <a:solidFill>
                  <a:srgbClr val="2B3A4F"/>
                </a:solidFill>
                <a:latin typeface="Calibri"/>
              </a:rPr>
              <a:t>Validar reglas EDA e integridad referencial (huérfanos = 0)</a:t>
            </a:r>
          </a:p>
          <a:p>
            <a:pPr algn="l" marL="150000" indent="-150000">
              <a:spcAft>
                <a:spcPts val="300"/>
              </a:spcAft>
              <a:buChar char="•"/>
            </a:pPr>
            <a:r>
              <a:rPr sz="1000" b="0">
                <a:solidFill>
                  <a:srgbClr val="2B3A4F"/>
                </a:solidFill>
                <a:latin typeface="Calibri"/>
              </a:rPr>
              <a:t>Diseñar la estrella: llaves sustitutas, dimensiones y hechos</a:t>
            </a:r>
          </a:p>
          <a:p>
            <a:pPr algn="l" marL="150000" indent="-150000">
              <a:spcAft>
                <a:spcPts val="300"/>
              </a:spcAft>
              <a:buChar char="•"/>
            </a:pPr>
            <a:r>
              <a:rPr sz="1000" b="0">
                <a:solidFill>
                  <a:srgbClr val="2B3A4F"/>
                </a:solidFill>
                <a:latin typeface="Calibri"/>
              </a:rPr>
              <a:t>Crear índices, particiones y agregaciones</a:t>
            </a:r>
          </a:p>
        </p:txBody>
      </p:sp>
      <p:sp>
        <p:nvSpPr>
          <p:cNvPr id="21" name="Entregable 2"/>
          <p:cNvSpPr txBox="1"/>
          <p:nvPr/>
        </p:nvSpPr>
        <p:spPr>
          <a:xfrm>
            <a:off x="3380880" y="2920000"/>
            <a:ext cx="238224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4395A"/>
                </a:solidFill>
                <a:latin typeface="Calibri"/>
              </a:rPr>
              <a:t>Entregable: </a:t>
            </a:r>
            <a:r>
              <a:rPr sz="1000" b="0">
                <a:solidFill>
                  <a:srgbClr val="2B3A4F"/>
                </a:solidFill>
                <a:latin typeface="Calibri"/>
              </a:rPr>
              <a:t>DDL del modelo, reglas EDA y pruebas de calidad</a:t>
            </a:r>
          </a:p>
        </p:txBody>
      </p:sp>
      <p:sp>
        <p:nvSpPr>
          <p:cNvPr id="22" name="Card rol 3"/>
          <p:cNvSpPr/>
          <p:nvPr/>
        </p:nvSpPr>
        <p:spPr>
          <a:xfrm>
            <a:off x="6096000" y="960000"/>
            <a:ext cx="2682240" cy="24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Banda integrante 3"/>
          <p:cNvSpPr/>
          <p:nvPr/>
        </p:nvSpPr>
        <p:spPr>
          <a:xfrm>
            <a:off x="6096000" y="960000"/>
            <a:ext cx="2682240" cy="300000"/>
          </a:xfrm>
          <a:prstGeom prst="rect">
            <a:avLst/>
          </a:prstGeom>
          <a:solidFill>
            <a:srgbClr val="D6E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o integrante 3"/>
          <p:cNvSpPr txBox="1"/>
          <p:nvPr/>
        </p:nvSpPr>
        <p:spPr>
          <a:xfrm>
            <a:off x="6246000" y="960000"/>
            <a:ext cx="238224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4395A"/>
                </a:solidFill>
                <a:latin typeface="Calibri"/>
              </a:rPr>
              <a:t>INTEGRANTE 3</a:t>
            </a:r>
            <a:r>
              <a:rPr sz="1050" b="0">
                <a:solidFill>
                  <a:srgbClr val="4A6585"/>
                </a:solidFill>
                <a:latin typeface="Calibri"/>
              </a:rPr>
              <a:t>   [nombre]</a:t>
            </a:r>
          </a:p>
        </p:txBody>
      </p:sp>
      <p:sp>
        <p:nvSpPr>
          <p:cNvPr id="25" name="Rol 3"/>
          <p:cNvSpPr txBox="1"/>
          <p:nvPr/>
        </p:nvSpPr>
        <p:spPr>
          <a:xfrm>
            <a:off x="6246000" y="1310000"/>
            <a:ext cx="2382240" cy="2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4395A"/>
                </a:solidFill>
                <a:latin typeface="Calibri"/>
              </a:rPr>
              <a:t>Analista de BI</a:t>
            </a:r>
          </a:p>
        </p:txBody>
      </p:sp>
      <p:sp>
        <p:nvSpPr>
          <p:cNvPr id="26" name="Etapa Consumo rol 3"/>
          <p:cNvSpPr/>
          <p:nvPr/>
        </p:nvSpPr>
        <p:spPr>
          <a:xfrm>
            <a:off x="6246000" y="1610000"/>
            <a:ext cx="640000" cy="200000"/>
          </a:xfrm>
          <a:prstGeom prst="roundRect">
            <a:avLst>
              <a:gd name="adj" fmla="val 50000"/>
            </a:avLst>
          </a:prstGeom>
          <a:solidFill>
            <a:srgbClr val="D6E6F7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24395A"/>
                </a:solidFill>
                <a:latin typeface="Calibri"/>
              </a:rPr>
              <a:t>CONSUMO</a:t>
            </a:r>
          </a:p>
        </p:txBody>
      </p:sp>
      <p:sp>
        <p:nvSpPr>
          <p:cNvPr id="27" name="Responsabilidades 3"/>
          <p:cNvSpPr txBox="1"/>
          <p:nvPr/>
        </p:nvSpPr>
        <p:spPr>
          <a:xfrm>
            <a:off x="6246000" y="1890000"/>
            <a:ext cx="2382240" cy="9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0000" indent="-150000">
              <a:spcAft>
                <a:spcPts val="300"/>
              </a:spcAft>
              <a:buChar char="•"/>
            </a:pPr>
            <a:r>
              <a:rPr sz="1000" b="0">
                <a:solidFill>
                  <a:srgbClr val="2B3A4F"/>
                </a:solidFill>
                <a:latin typeface="Calibri"/>
              </a:rPr>
              <a:t>Conectar Power BI a Oro (modo Import) y crear medidas DAX</a:t>
            </a:r>
          </a:p>
          <a:p>
            <a:pPr algn="l" marL="150000" indent="-150000">
              <a:spcAft>
                <a:spcPts val="300"/>
              </a:spcAft>
              <a:buChar char="•"/>
            </a:pPr>
            <a:r>
              <a:rPr sz="1000" b="0">
                <a:solidFill>
                  <a:srgbClr val="2B3A4F"/>
                </a:solidFill>
                <a:latin typeface="Calibri"/>
              </a:rPr>
              <a:t>Construir el dashboard con drill-down y segmentadores sincronizados</a:t>
            </a:r>
          </a:p>
          <a:p>
            <a:pPr algn="l" marL="150000" indent="-150000">
              <a:spcAft>
                <a:spcPts val="300"/>
              </a:spcAft>
              <a:buChar char="•"/>
            </a:pPr>
            <a:r>
              <a:rPr sz="1000" b="0">
                <a:solidFill>
                  <a:srgbClr val="2B3A4F"/>
                </a:solidFill>
                <a:latin typeface="Calibri"/>
              </a:rPr>
              <a:t>Obtener conclusiones y preparar la demo</a:t>
            </a:r>
          </a:p>
        </p:txBody>
      </p:sp>
      <p:sp>
        <p:nvSpPr>
          <p:cNvPr id="28" name="Entregable 3"/>
          <p:cNvSpPr txBox="1"/>
          <p:nvPr/>
        </p:nvSpPr>
        <p:spPr>
          <a:xfrm>
            <a:off x="6246000" y="2920000"/>
            <a:ext cx="238224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4395A"/>
                </a:solidFill>
                <a:latin typeface="Calibri"/>
              </a:rPr>
              <a:t>Entregable: </a:t>
            </a:r>
            <a:r>
              <a:rPr sz="1000" b="0">
                <a:solidFill>
                  <a:srgbClr val="2B3A4F"/>
                </a:solidFill>
                <a:latin typeface="Calibri"/>
              </a:rPr>
              <a:t>tablero Power BI y conclusiones de negocio</a:t>
            </a:r>
          </a:p>
        </p:txBody>
      </p:sp>
      <p:sp>
        <p:nvSpPr>
          <p:cNvPr id="29" name="Titulo matriz"/>
          <p:cNvSpPr txBox="1"/>
          <p:nvPr/>
        </p:nvSpPr>
        <p:spPr>
          <a:xfrm>
            <a:off x="365760" y="3470000"/>
            <a:ext cx="5000000" cy="2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4395A"/>
                </a:solidFill>
                <a:latin typeface="Calibri"/>
              </a:rPr>
              <a:t>Participación por etapa</a:t>
            </a:r>
          </a:p>
        </p:txBody>
      </p:sp>
      <p:sp>
        <p:nvSpPr>
          <p:cNvPr id="30" name="Leyenda matriz"/>
          <p:cNvSpPr txBox="1"/>
          <p:nvPr/>
        </p:nvSpPr>
        <p:spPr>
          <a:xfrm>
            <a:off x="5600000" y="3470000"/>
            <a:ext cx="3178240" cy="2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>
                <a:solidFill>
                  <a:srgbClr val="24395A"/>
                </a:solidFill>
                <a:latin typeface="Calibri"/>
              </a:rPr>
              <a:t>●</a:t>
            </a:r>
            <a:r>
              <a:rPr sz="1000" b="0">
                <a:solidFill>
                  <a:srgbClr val="65717F"/>
                </a:solidFill>
                <a:latin typeface="Calibri"/>
              </a:rPr>
              <a:t> Responsable     </a:t>
            </a:r>
            <a:r>
              <a:rPr sz="1000" b="1">
                <a:solidFill>
                  <a:srgbClr val="24395A"/>
                </a:solidFill>
                <a:latin typeface="Calibri"/>
              </a:rPr>
              <a:t>○</a:t>
            </a:r>
            <a:r>
              <a:rPr sz="1000" b="0">
                <a:solidFill>
                  <a:srgbClr val="65717F"/>
                </a:solidFill>
                <a:latin typeface="Calibri"/>
              </a:rPr>
              <a:t> Apoyo</a:t>
            </a:r>
          </a:p>
        </p:txBody>
      </p:sp>
      <p:graphicFrame>
        <p:nvGraphicFramePr>
          <p:cNvPr id="31" name="Matriz de participacion"/>
          <p:cNvGraphicFramePr>
            <a:graphicFrameLocks noGrp="1"/>
          </p:cNvGraphicFramePr>
          <p:nvPr/>
        </p:nvGraphicFramePr>
        <p:xfrm>
          <a:off x="365760" y="3710000"/>
          <a:ext cx="8412480" cy="1000000"/>
        </p:xfrm>
        <a:graphic>
          <a:graphicData uri="http://schemas.openxmlformats.org/drawingml/2006/table">
            <a:tbl>
              <a:tblPr firstRow="0" bandRow="0"/>
              <a:tblGrid>
                <a:gridCol w="2500000"/>
                <a:gridCol w="1478120"/>
                <a:gridCol w="1478120"/>
                <a:gridCol w="1478120"/>
                <a:gridCol w="1478120"/>
              </a:tblGrid>
              <a:tr h="2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95A"/>
                          </a:solidFill>
                          <a:latin typeface="Calibri"/>
                        </a:rPr>
                        <a:t>Integrante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3F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A5501E"/>
                          </a:solidFill>
                          <a:latin typeface="Calibri"/>
                        </a:rPr>
                        <a:t>Bronce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9D9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A5563"/>
                          </a:solidFill>
                          <a:latin typeface="Calibri"/>
                        </a:rPr>
                        <a:t>Plata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946900"/>
                          </a:solidFill>
                          <a:latin typeface="Calibri"/>
                        </a:rPr>
                        <a:t>Oro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CEF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4395A"/>
                          </a:solidFill>
                          <a:latin typeface="Calibri"/>
                        </a:rPr>
                        <a:t>Consumo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D6E6F7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95A"/>
                          </a:solidFill>
                          <a:latin typeface="Calibri"/>
                        </a:rPr>
                        <a:t>Integrante 1 · Ingeniero de datos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95A"/>
                          </a:solidFill>
                          <a:latin typeface="Calibri"/>
                        </a:rPr>
                        <a:t>● Ingesta y auditoría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9D9C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95A"/>
                          </a:solidFill>
                          <a:latin typeface="Calibri"/>
                        </a:rPr>
                        <a:t>● Limpieza y tipado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E4E8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3A4F"/>
                          </a:solidFill>
                          <a:latin typeface="Calibri"/>
                        </a:rPr>
                        <a:t>○ Carga de hechos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5717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95A"/>
                          </a:solidFill>
                          <a:latin typeface="Calibri"/>
                        </a:rPr>
                        <a:t>Integrante 2 · Modelador + DBA + calidad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5717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3A4F"/>
                          </a:solidFill>
                          <a:latin typeface="Calibri"/>
                        </a:rPr>
                        <a:t>○ Reglas EDA y calidad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95A"/>
                          </a:solidFill>
                          <a:latin typeface="Calibri"/>
                        </a:rPr>
                        <a:t>● Estrella e índices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CEF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5717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95A"/>
                          </a:solidFill>
                          <a:latin typeface="Calibri"/>
                        </a:rPr>
                        <a:t>Integrante 3 · Analista de BI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5717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5717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3A4F"/>
                          </a:solidFill>
                          <a:latin typeface="Calibri"/>
                        </a:rPr>
                        <a:t>○ Agregaciones para BI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4395A"/>
                          </a:solidFill>
                          <a:latin typeface="Calibri"/>
                        </a:rPr>
                        <a:t>● Tablero y conclusiones</a:t>
                      </a:r>
                    </a:p>
                  </a:txBody>
                  <a:tcPr marL="91440" marR="91440" marT="18000" marB="18000" anchor="ctr">
                    <a:lnL w="9525">
                      <a:solidFill>
                        <a:srgbClr val="D5DBE3"/>
                      </a:solidFill>
                    </a:lnL>
                    <a:lnR w="9525">
                      <a:solidFill>
                        <a:srgbClr val="D5DBE3"/>
                      </a:solidFill>
                    </a:lnR>
                    <a:lnT w="9525">
                      <a:solidFill>
                        <a:srgbClr val="D5DBE3"/>
                      </a:solidFill>
                    </a:lnT>
                    <a:lnB w="9525">
                      <a:solidFill>
                        <a:srgbClr val="D5DBE3"/>
                      </a:solidFill>
                    </a:lnB>
                    <a:solidFill>
                      <a:srgbClr val="D6E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Actividades del ingeniero en cada capa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Bronce: cargo y registro · Plata: limpio, tipo y valido · Oro: modelo, indexo y agrego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14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26974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51560"/>
            <a:ext cx="73152" cy="365760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11064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1399032"/>
            <a:ext cx="244144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Leer cada CSV por chunks.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Intentar utf-8 y, si falla, latin-1.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Cargar con COPY a tablas TEXT.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Registrar filas leídas y errores en meta.etl_audit.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3260" y="1051560"/>
            <a:ext cx="26974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3260" y="1051560"/>
            <a:ext cx="73152" cy="3657600"/>
          </a:xfrm>
          <a:prstGeom prst="rect">
            <a:avLst/>
          </a:prstGeom>
          <a:solidFill>
            <a:srgbClr val="B3BDCA"/>
          </a:solidFill>
          <a:ln w="12700">
            <a:solidFill>
              <a:srgbClr val="B3BD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7852" y="11064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387852" y="1399032"/>
            <a:ext cx="244144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Convertir tipos y fechas.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Aplicar reglas de nulos.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Eliminar duplicados por llave de negocio.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Descartar o aislar filas inválidas.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Insertar con ON CONFLICT (idempotencia).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Verificar FKs.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0760" y="1051560"/>
            <a:ext cx="26974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1051560"/>
            <a:ext cx="73152" cy="365760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45352" y="110642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245352" y="1399032"/>
            <a:ext cx="244144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Poblar dimensiones y asignar llaves sustitutas.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Cargar hechos resolviendo FKs.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Calcular minute_bucket e is_home.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Crear índices, particiones y vistas materializadas.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Refrescar agregaciones.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Herramientas implementadas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tecnológico: qué se usó y para qué sirve cada herramienta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15</a:t>
            </a:r>
            <a:endParaRPr lang="en-US" sz="800" dirty="0"/>
          </a:p>
        </p:txBody>
      </p:sp>
      <p:sp>
        <p:nvSpPr>
          <p:cNvPr id="7" name="Card 1"/>
          <p:cNvSpPr/>
          <p:nvPr/>
        </p:nvSpPr>
        <p:spPr>
          <a:xfrm>
            <a:off x="365760" y="1005840"/>
            <a:ext cx="200025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Card 1 acento"/>
          <p:cNvSpPr/>
          <p:nvPr/>
        </p:nvSpPr>
        <p:spPr>
          <a:xfrm>
            <a:off x="365760" y="1005840"/>
            <a:ext cx="73152" cy="1737360"/>
          </a:xfrm>
          <a:prstGeom prst="rect">
            <a:avLst/>
          </a:prstGeom>
          <a:solidFill>
            <a:srgbClr val="8FB3DB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9" name="Card 1 título"/>
          <p:cNvSpPr txBox="1"/>
          <p:nvPr/>
        </p:nvSpPr>
        <p:spPr>
          <a:xfrm>
            <a:off x="530352" y="1060704"/>
            <a:ext cx="174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12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14+</a:t>
            </a:r>
            <a:endParaRPr lang="es-CO" sz="1250" dirty="0"/>
          </a:p>
        </p:txBody>
      </p:sp>
      <p:sp>
        <p:nvSpPr>
          <p:cNvPr id="10" name="Card 1 texto"/>
          <p:cNvSpPr txBox="1"/>
          <p:nvPr/>
        </p:nvSpPr>
        <p:spPr>
          <a:xfrm>
            <a:off x="530352" y="1353312"/>
            <a:ext cx="17442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del DWH con esquemas bronze, silver, gold y meta. Partición anual de fact_events, vistas materializadas, índices B-Tree/Hash y PL/pgSQL.</a:t>
            </a:r>
            <a:endParaRPr lang="es-CO" sz="1050" dirty="0"/>
          </a:p>
        </p:txBody>
      </p:sp>
      <p:sp>
        <p:nvSpPr>
          <p:cNvPr id="11" name="Card 2"/>
          <p:cNvSpPr/>
          <p:nvPr/>
        </p:nvSpPr>
        <p:spPr>
          <a:xfrm>
            <a:off x="2503170" y="1005840"/>
            <a:ext cx="200025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Card 2 acento"/>
          <p:cNvSpPr/>
          <p:nvPr/>
        </p:nvSpPr>
        <p:spPr>
          <a:xfrm>
            <a:off x="2503170" y="1005840"/>
            <a:ext cx="73152" cy="1737360"/>
          </a:xfrm>
          <a:prstGeom prst="rect">
            <a:avLst/>
          </a:prstGeom>
          <a:solidFill>
            <a:srgbClr val="78C7A0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13" name="Card 2 título"/>
          <p:cNvSpPr txBox="1"/>
          <p:nvPr/>
        </p:nvSpPr>
        <p:spPr>
          <a:xfrm>
            <a:off x="2667762" y="1060704"/>
            <a:ext cx="174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125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y consola</a:t>
            </a:r>
            <a:endParaRPr lang="es-CO" sz="1250" dirty="0"/>
          </a:p>
        </p:txBody>
      </p:sp>
      <p:sp>
        <p:nvSpPr>
          <p:cNvPr id="14" name="Card 2 texto"/>
          <p:cNvSpPr txBox="1"/>
          <p:nvPr/>
        </p:nvSpPr>
        <p:spPr>
          <a:xfrm>
            <a:off x="2667762" y="1353312"/>
            <a:ext cx="17442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orquesta el ETL y la automatización, en entorno virtual (venv). PowerShell y Bash para la línea de comandos.</a:t>
            </a:r>
            <a:endParaRPr lang="es-CO" sz="1050" dirty="0"/>
          </a:p>
        </p:txBody>
      </p:sp>
      <p:sp>
        <p:nvSpPr>
          <p:cNvPr id="15" name="Card 3"/>
          <p:cNvSpPr/>
          <p:nvPr/>
        </p:nvSpPr>
        <p:spPr>
          <a:xfrm>
            <a:off x="4640580" y="1005840"/>
            <a:ext cx="200025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6" name="Card 3 acento"/>
          <p:cNvSpPr/>
          <p:nvPr/>
        </p:nvSpPr>
        <p:spPr>
          <a:xfrm>
            <a:off x="4640580" y="1005840"/>
            <a:ext cx="73152" cy="17373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7" name="Card 3 título"/>
          <p:cNvSpPr txBox="1"/>
          <p:nvPr/>
        </p:nvSpPr>
        <p:spPr>
          <a:xfrm>
            <a:off x="4805172" y="1060704"/>
            <a:ext cx="174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Librerías de Python</a:t>
            </a:r>
            <a:endParaRPr lang="es-CO" sz="1250" dirty="0"/>
          </a:p>
        </p:txBody>
      </p:sp>
      <p:sp>
        <p:nvSpPr>
          <p:cNvPr id="18" name="Card 3 texto"/>
          <p:cNvSpPr txBox="1"/>
          <p:nvPr/>
        </p:nvSpPr>
        <p:spPr>
          <a:xfrm>
            <a:off x="4805172" y="1353312"/>
            <a:ext cx="17442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s-CO" sz="10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psycopg2-binary: </a:t>
            </a: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con transacciones y cursores server-side.</a:t>
            </a:r>
            <a:endParaRPr lang="es-CO" sz="1050" dirty="0"/>
          </a:p>
          <a:p>
            <a:pPr indent="0" marL="0">
              <a:spcAft>
                <a:spcPts val="300"/>
              </a:spcAft>
              <a:buNone/>
            </a:pPr>
            <a:r>
              <a:rPr lang="es-CO" sz="10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python-dotenv: </a:t>
            </a: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fuera del código.</a:t>
            </a:r>
            <a:endParaRPr lang="es-CO" sz="1050" dirty="0"/>
          </a:p>
          <a:p>
            <a:pPr indent="0" marL="0">
              <a:buNone/>
            </a:pPr>
            <a:r>
              <a:rPr lang="es-CO" sz="10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</a:t>
            </a: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calidad e idempotencia.</a:t>
            </a:r>
            <a:endParaRPr lang="es-CO" sz="1050" dirty="0"/>
          </a:p>
        </p:txBody>
      </p:sp>
      <p:sp>
        <p:nvSpPr>
          <p:cNvPr id="19" name="Card 4"/>
          <p:cNvSpPr/>
          <p:nvPr/>
        </p:nvSpPr>
        <p:spPr>
          <a:xfrm>
            <a:off x="6777990" y="1005840"/>
            <a:ext cx="200025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0" name="Card 4 acento"/>
          <p:cNvSpPr/>
          <p:nvPr/>
        </p:nvSpPr>
        <p:spPr>
          <a:xfrm>
            <a:off x="6777990" y="1005840"/>
            <a:ext cx="73152" cy="173736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21" name="Card 4 título"/>
          <p:cNvSpPr txBox="1"/>
          <p:nvPr/>
        </p:nvSpPr>
        <p:spPr>
          <a:xfrm>
            <a:off x="6942582" y="1060704"/>
            <a:ext cx="174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 y psql</a:t>
            </a:r>
            <a:endParaRPr lang="es-CO" sz="1250" dirty="0"/>
          </a:p>
        </p:txBody>
      </p:sp>
      <p:sp>
        <p:nvSpPr>
          <p:cNvPr id="22" name="Card 4 texto"/>
          <p:cNvSpPr txBox="1"/>
          <p:nvPr/>
        </p:nvSpPr>
        <p:spPr>
          <a:xfrm>
            <a:off x="6942582" y="1353312"/>
            <a:ext cx="17442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s-CO" sz="10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 Community: </a:t>
            </a: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administración, esquemas y diagramas ER.</a:t>
            </a:r>
            <a:endParaRPr lang="es-CO" sz="1050" dirty="0"/>
          </a:p>
          <a:p>
            <a:pPr indent="0" marL="0">
              <a:buNone/>
            </a:pPr>
            <a:r>
              <a:rPr lang="es-CO" sz="10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psql: </a:t>
            </a: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oficial de PostgreSQL.</a:t>
            </a:r>
            <a:endParaRPr lang="es-CO" sz="1050" dirty="0"/>
          </a:p>
        </p:txBody>
      </p:sp>
      <p:sp>
        <p:nvSpPr>
          <p:cNvPr id="23" name="Card 5"/>
          <p:cNvSpPr/>
          <p:nvPr/>
        </p:nvSpPr>
        <p:spPr>
          <a:xfrm>
            <a:off x="365760" y="2880360"/>
            <a:ext cx="200025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4" name="Card 5 acento"/>
          <p:cNvSpPr/>
          <p:nvPr/>
        </p:nvSpPr>
        <p:spPr>
          <a:xfrm>
            <a:off x="365760" y="2880360"/>
            <a:ext cx="73152" cy="1737360"/>
          </a:xfrm>
          <a:prstGeom prst="rect">
            <a:avLst/>
          </a:prstGeom>
          <a:solidFill>
            <a:srgbClr val="B3BDCA"/>
          </a:solidFill>
          <a:ln w="12700">
            <a:solidFill>
              <a:srgbClr val="B3BDCA"/>
            </a:solidFill>
            <a:prstDash val="solid"/>
          </a:ln>
        </p:spPr>
      </p:sp>
      <p:sp>
        <p:nvSpPr>
          <p:cNvPr id="25" name="Card 5 título"/>
          <p:cNvSpPr txBox="1"/>
          <p:nvPr/>
        </p:nvSpPr>
        <p:spPr>
          <a:xfrm>
            <a:off x="530352" y="2935224"/>
            <a:ext cx="174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1250" b="1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s-CO" sz="1250" dirty="0"/>
          </a:p>
        </p:txBody>
      </p:sp>
      <p:sp>
        <p:nvSpPr>
          <p:cNvPr id="26" name="Card 5 texto"/>
          <p:cNvSpPr txBox="1"/>
          <p:nvPr/>
        </p:nvSpPr>
        <p:spPr>
          <a:xfrm>
            <a:off x="530352" y="3227832"/>
            <a:ext cx="17442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postgres:16-alpine definido en docker-compose.yml: despliegue reproducible en cualquier sistema operativo.</a:t>
            </a:r>
            <a:endParaRPr lang="es-CO" sz="1050" dirty="0"/>
          </a:p>
        </p:txBody>
      </p:sp>
      <p:sp>
        <p:nvSpPr>
          <p:cNvPr id="27" name="Card 6"/>
          <p:cNvSpPr/>
          <p:nvPr/>
        </p:nvSpPr>
        <p:spPr>
          <a:xfrm>
            <a:off x="2503170" y="2880360"/>
            <a:ext cx="200025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8" name="Card 6 acento"/>
          <p:cNvSpPr/>
          <p:nvPr/>
        </p:nvSpPr>
        <p:spPr>
          <a:xfrm>
            <a:off x="2503170" y="2880360"/>
            <a:ext cx="73152" cy="1737360"/>
          </a:xfrm>
          <a:prstGeom prst="rect">
            <a:avLst/>
          </a:prstGeom>
          <a:solidFill>
            <a:srgbClr val="8FB3DB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29" name="Card 6 título"/>
          <p:cNvSpPr txBox="1"/>
          <p:nvPr/>
        </p:nvSpPr>
        <p:spPr>
          <a:xfrm>
            <a:off x="2667762" y="2935224"/>
            <a:ext cx="174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12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</a:t>
            </a:r>
            <a:endParaRPr lang="es-CO" sz="1250" dirty="0"/>
          </a:p>
        </p:txBody>
      </p:sp>
      <p:sp>
        <p:nvSpPr>
          <p:cNvPr id="30" name="Card 6 texto"/>
          <p:cNvSpPr txBox="1"/>
          <p:nvPr/>
        </p:nvSpPr>
        <p:spPr>
          <a:xfrm>
            <a:off x="2667762" y="3227832"/>
            <a:ext cx="17442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 Conventional Commits y repositorio remoto en GitHub (Sebasr0311/DWTransfermarkt).</a:t>
            </a:r>
            <a:endParaRPr lang="es-CO" sz="1050" dirty="0"/>
          </a:p>
        </p:txBody>
      </p:sp>
      <p:sp>
        <p:nvSpPr>
          <p:cNvPr id="31" name="Card 7"/>
          <p:cNvSpPr/>
          <p:nvPr/>
        </p:nvSpPr>
        <p:spPr>
          <a:xfrm>
            <a:off x="4640580" y="2880360"/>
            <a:ext cx="200025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32" name="Card 7 acento"/>
          <p:cNvSpPr/>
          <p:nvPr/>
        </p:nvSpPr>
        <p:spPr>
          <a:xfrm>
            <a:off x="4640580" y="2880360"/>
            <a:ext cx="73152" cy="1737360"/>
          </a:xfrm>
          <a:prstGeom prst="rect">
            <a:avLst/>
          </a:prstGeom>
          <a:solidFill>
            <a:srgbClr val="78C7A0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33" name="Card 7 título"/>
          <p:cNvSpPr txBox="1"/>
          <p:nvPr/>
        </p:nvSpPr>
        <p:spPr>
          <a:xfrm>
            <a:off x="4805172" y="2935224"/>
            <a:ext cx="174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125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origen</a:t>
            </a:r>
            <a:endParaRPr lang="es-CO" sz="1250" dirty="0"/>
          </a:p>
        </p:txBody>
      </p:sp>
      <p:sp>
        <p:nvSpPr>
          <p:cNvPr id="34" name="Card 7 texto"/>
          <p:cNvSpPr txBox="1"/>
          <p:nvPr/>
        </p:nvSpPr>
        <p:spPr>
          <a:xfrm>
            <a:off x="4805172" y="3227832"/>
            <a:ext cx="17442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dcaribou/transfermarkt-datasets (Kaggle/GitHub): CSV comprimidos .csv.gz de competiciones, clubes, jugadores, partidos, valoraciones, apariciones y eventos.</a:t>
            </a:r>
            <a:endParaRPr lang="es-CO" sz="1050" dirty="0"/>
          </a:p>
        </p:txBody>
      </p:sp>
      <p:sp>
        <p:nvSpPr>
          <p:cNvPr id="35" name="Card 8"/>
          <p:cNvSpPr/>
          <p:nvPr/>
        </p:nvSpPr>
        <p:spPr>
          <a:xfrm>
            <a:off x="6777990" y="2880360"/>
            <a:ext cx="200025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36" name="Card 8 acento"/>
          <p:cNvSpPr/>
          <p:nvPr/>
        </p:nvSpPr>
        <p:spPr>
          <a:xfrm>
            <a:off x="6777990" y="2880360"/>
            <a:ext cx="73152" cy="173736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7" name="Card 8 título"/>
          <p:cNvSpPr txBox="1"/>
          <p:nvPr/>
        </p:nvSpPr>
        <p:spPr>
          <a:xfrm>
            <a:off x="6942582" y="2935224"/>
            <a:ext cx="174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O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s-CO" sz="1250" dirty="0"/>
          </a:p>
        </p:txBody>
      </p:sp>
      <p:sp>
        <p:nvSpPr>
          <p:cNvPr id="38" name="Card 8 texto"/>
          <p:cNvSpPr txBox="1"/>
          <p:nvPr/>
        </p:nvSpPr>
        <p:spPr>
          <a:xfrm>
            <a:off x="6942582" y="3227832"/>
            <a:ext cx="174421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O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 la capa gold: modelo semántico, medidas DAX, tableros y KPIs (modo Import).</a:t>
            </a:r>
            <a:endParaRPr lang="es-CO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Reglas EDA implementadas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regla tiene acción concreta y consulta de verificación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06240"/>
                <a:gridCol w="3657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43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del ETL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Nulos en métricas numéricas (goles, minutos, tarjetas)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Imputar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Nulos en valor de mercado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Mantener NULL y marcar en auditoría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Nulos en textos (árbitro, país)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Sustituir por "Desconocido"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Fechas en formatos mixtos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Convertir a ISO-8601; descartar si no se interpreta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Duplicados por llave de negocio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registro por llave (ON CONFLICT)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Rangos inválidos (minuto fuera de 0-130, valor &lt; 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Aislar en rechazados y contar como descartados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huérfanos (FK sin padre)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Descartar o aislar; objetivo final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Codificación o delimitador corrupto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Reintentar con latin-1, omitir y registrar líneas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incorrectos (texto en columna numérica)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Convertir a NULL con error controlado y contar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Consistencia de marcador (goles vs eventos)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Reportar diferencias para revisión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Proceso ETL: flujo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viaje de appearances.csv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05840"/>
            <a:ext cx="73152" cy="1417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10607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Extracción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1353312"/>
            <a:ext cx="244144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 con chunksize (10.000-200.000), dtype=str, utf-8 con respaldo latin-1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005840"/>
            <a:ext cx="73152" cy="141732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64992" y="10607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Carga a Bronce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364992" y="1353312"/>
            <a:ext cx="244144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desde buffer en memoria; TRUNCATE previo (idempotencia)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10058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05840"/>
            <a:ext cx="73152" cy="1417320"/>
          </a:xfrm>
          <a:prstGeom prst="rect">
            <a:avLst/>
          </a:prstGeom>
          <a:solidFill>
            <a:srgbClr val="B3BDCA"/>
          </a:solidFill>
          <a:ln w="12700">
            <a:solidFill>
              <a:srgbClr val="B3BDC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9632" y="10607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Plata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353312"/>
            <a:ext cx="244144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Tipado, ISO-8601, nulos canónicos, duplicados, rangos y FKs; INSERT … ON CONFLICT DO UPDATE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2560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2560320"/>
            <a:ext cx="73152" cy="141732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0352" y="261518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Carga a Oro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30352" y="2907792"/>
            <a:ext cx="244144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Dimensiones, llaves sustitutas, hechos, minute_bucket e is_home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0" y="2560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00400" y="2560320"/>
            <a:ext cx="73152" cy="141732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64992" y="261518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Agregaciones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3364992" y="2907792"/>
            <a:ext cx="244144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MATERIALIZED VIEW de gold.agg_*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35040" y="2560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35040" y="2560320"/>
            <a:ext cx="73152" cy="1417320"/>
          </a:xfrm>
          <a:prstGeom prst="rect">
            <a:avLst/>
          </a:prstGeom>
          <a:solidFill>
            <a:srgbClr val="8FB3DB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99632" y="261518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Auditoría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199632" y="2907792"/>
            <a:ext cx="244144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meta.etl_audit: filas leídas, transformadas, descartadas e insertadas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41605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7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load_bronze(conn,path,table):  TRUNCATE bronze.&lt;t&gt;  →  for chunk in read_chunks(path): COPY bronze.&lt;t&gt; FROM STDIN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6E6F7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ETL: herramientas y garantías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57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· Idempotencia · Tolerancia a fallos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Transfermarkt | Bases de Datos Avanzadas | 18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05840"/>
            <a:ext cx="73152" cy="2011680"/>
          </a:xfrm>
          <a:prstGeom prst="rect">
            <a:avLst/>
          </a:prstGeom>
          <a:solidFill>
            <a:srgbClr val="78C7A0"/>
          </a:solidFill>
          <a:ln w="12700">
            <a:solidFill>
              <a:srgbClr val="78C7A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10607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(RNF01)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1353312"/>
            <a:ext cx="24414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 10.000 a 200.000 filas: no se cargan millones de filas en RAM; cada bloque se procesa y se carga con COPY.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23260" y="100584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3260" y="1005840"/>
            <a:ext cx="73152" cy="2011680"/>
          </a:xfrm>
          <a:prstGeom prst="rect">
            <a:avLst/>
          </a:prstGeom>
          <a:solidFill>
            <a:srgbClr val="E6C25A"/>
          </a:solidFill>
          <a:ln w="12700">
            <a:solidFill>
              <a:srgbClr val="E6C2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87852" y="10607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6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(RNF07)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387852" y="1353312"/>
            <a:ext cx="24414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en Bronce y UPSERT (ON CONFLICT DO UPDATE) en Plata y Oro: reejecutar deja el mismo estado, sin duplicados.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80760" y="1005840"/>
            <a:ext cx="26974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1005840"/>
            <a:ext cx="73152" cy="2011680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45352" y="106070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5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 fallos (RNF09)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245352" y="1353312"/>
            <a:ext cx="24414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por codificación (utf-8 → latin-1), delimitador y filas corruptas, que se omiten y se cuentan.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3200400"/>
            <a:ext cx="41148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200400"/>
            <a:ext cx="73152" cy="1554480"/>
          </a:xfrm>
          <a:prstGeom prst="rect">
            <a:avLst/>
          </a:prstGeom>
          <a:solidFill>
            <a:srgbClr val="8FB3DB"/>
          </a:solidFill>
          <a:ln w="12700">
            <a:solidFill>
              <a:srgbClr val="8FB3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0352" y="32552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del ETL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30352" y="3547872"/>
            <a:ext cx="3858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psycopg2 para lectura y orquestación · SQL y PL/pgSQL para transformaciones Plata → Oro · COPY para carga masiva · pytest para pruebas · meta.etl_audit para linaje.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3200400"/>
            <a:ext cx="41148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3200400"/>
            <a:ext cx="73152" cy="1554480"/>
          </a:xfrm>
          <a:prstGeom prst="rect">
            <a:avLst/>
          </a:prstGeom>
          <a:solidFill>
            <a:srgbClr val="B3BDCA"/>
          </a:solidFill>
          <a:ln w="12700">
            <a:solidFill>
              <a:srgbClr val="B3BDC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28032" y="32552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5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828032" y="3547872"/>
            <a:ext cx="38587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Ejecutar el pipeline. 2) Consultar conteos y meta.etl_audit. 3) Reejecutar. 4) Verificar que los conteos son idénticos y huérfanos = 0.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DWH Transfermarkt</dc:title>
  <dc:subject>PptxGenJS Presentation</dc:subject>
  <dc:creator>PptxGenJS</dc:creator>
  <cp:lastModifiedBy>PptxGenJS</cp:lastModifiedBy>
  <cp:revision>1</cp:revision>
  <dcterms:created xsi:type="dcterms:W3CDTF">2026-10-07T02:51:33Z</dcterms:created>
  <dcterms:modified xsi:type="dcterms:W3CDTF">2026-10-07T02:51:33Z</dcterms:modified>
</cp:coreProperties>
</file>